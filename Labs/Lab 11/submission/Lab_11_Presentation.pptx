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3017520" cy="36576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5380  ·  SPRING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11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FB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ML for Network Engineering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3246120"/>
            <a:ext cx="1097280" cy="36576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DCD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network operations with MCP, and a retrieval-augmented network Q&amp;A assistant.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Anand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Virtualization &amp; Orchestration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E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Prof. Levi Perigo, Ph.D.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76895" y="4937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 Boulder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076895" y="5349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Network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64008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mandatory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LLMs into the network ops loop — one that acts, one that answers.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solidFill>
            <a:srgbClr val="F4EFD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45720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10865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goal  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Replace “grep through configs and CLI outputs” with a conversational workflow that an on-call engineer can actually drive.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40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68880"/>
            <a:ext cx="5440680" cy="109728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CFB87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ops with MCP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347472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FastMCP server exposes 7 real network tools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plans, calls tools, and reasons over results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required diagnostic queries driven end-to-end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live state, actions, on-call triage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02375" y="2468880"/>
            <a:ext cx="5440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2375" y="2468880"/>
            <a:ext cx="5440680" cy="109728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6695" y="2788920"/>
            <a:ext cx="502920" cy="502920"/>
          </a:xfrm>
          <a:prstGeom prst="ellipse">
            <a:avLst/>
          </a:prstGeom>
          <a:solidFill>
            <a:srgbClr val="CFB87C"/>
          </a:solidFill>
          <a:ln/>
        </p:spPr>
      </p:sp>
      <p:sp>
        <p:nvSpPr>
          <p:cNvPr id="17" name="Text 15"/>
          <p:cNvSpPr/>
          <p:nvPr/>
        </p:nvSpPr>
        <p:spPr>
          <a:xfrm>
            <a:off x="6476695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16775" y="2788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over the knowledge base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22415" y="347472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configs, a design doc, and a BGP runbook → ChromaDB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top-k chunks → grounded prompt → cited answer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speculate when the docs don’t cover 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audits, onboarding, design Q&amp;A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Anand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5380 · Lab 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11535" y="6583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64008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it’s built · end-to-end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engineer, one key, two pipelines — all orchestrated from a single Python process.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828800"/>
            <a:ext cx="2194560" cy="41148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· CLI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2258568"/>
            <a:ext cx="0" cy="164592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86000" y="2441448"/>
            <a:ext cx="329184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24414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API  ·  tool use + grounded generation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31920" y="2990088"/>
            <a:ext cx="0" cy="13716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0280" y="3127248"/>
            <a:ext cx="1691640" cy="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3127248"/>
            <a:ext cx="1691640" cy="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0280" y="3127248"/>
            <a:ext cx="0" cy="22860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23560" y="3127248"/>
            <a:ext cx="0" cy="22860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783080" y="3383280"/>
            <a:ext cx="914400" cy="27432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17" name="Text 15"/>
          <p:cNvSpPr/>
          <p:nvPr/>
        </p:nvSpPr>
        <p:spPr>
          <a:xfrm>
            <a:off x="178308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path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66360" y="3383280"/>
            <a:ext cx="914400" cy="27432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path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05840" y="3721608"/>
            <a:ext cx="2468880" cy="45720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721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1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mcp_client.py  ·  asyncio loop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40280" y="4178808"/>
            <a:ext cx="0" cy="13716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5840" y="4407408"/>
            <a:ext cx="2468880" cy="45720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407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(stdio)</a:t>
            </a:r>
            <a:endParaRPr lang="en-US" sz="11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FastMCP  ·  7 @mcp.tool()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40280" y="4864608"/>
            <a:ext cx="0" cy="13716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5840" y="5093208"/>
            <a:ext cx="2468880" cy="45720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093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network_data.py</a:t>
            </a:r>
            <a:endParaRPr lang="en-US" sz="11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devices  ·  live Python state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89120" y="3721608"/>
            <a:ext cx="2468880" cy="45720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3721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</a:t>
            </a:r>
            <a:endParaRPr lang="en-US" sz="11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MiniLM (default) / TF-IDF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23560" y="4178808"/>
            <a:ext cx="0" cy="13716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389120" y="4407408"/>
            <a:ext cx="2468880" cy="45720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4407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  ·  top-k search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23560" y="4864608"/>
            <a:ext cx="0" cy="13716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389120" y="5093208"/>
            <a:ext cx="2468880" cy="45720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5093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knowledge_base/</a:t>
            </a:r>
            <a:endParaRPr lang="en-US" sz="115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docs  ·  33 chunks @ 800/150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543800" y="1691640"/>
            <a:ext cx="4099255" cy="4251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7543800" y="1691640"/>
            <a:ext cx="4099255" cy="36576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8" name="Text 36"/>
          <p:cNvSpPr/>
          <p:nvPr/>
        </p:nvSpPr>
        <p:spPr>
          <a:xfrm>
            <a:off x="7726680" y="16916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STACK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44968" y="2148840"/>
            <a:ext cx="3733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744968" y="2350008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44968" y="2651760"/>
            <a:ext cx="3733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744968" y="2852928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claude-sonnet-4-5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44968" y="3200400"/>
            <a:ext cx="3733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PROTOCOL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44968" y="3401568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≥ 1.0 (FastMCP)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 transport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44968" y="3977640"/>
            <a:ext cx="3733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744968" y="4178808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langchain, langchain-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community, chromadb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44968" y="4754880"/>
            <a:ext cx="3733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744968" y="4956048"/>
            <a:ext cx="3733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sentence-transformers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MiniLM-L6-v2  ·  384-dim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 TF-IDF (alt.)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6053328"/>
            <a:ext cx="11094415" cy="411480"/>
          </a:xfrm>
          <a:prstGeom prst="rect">
            <a:avLst/>
          </a:prstGeom>
          <a:solidFill>
            <a:srgbClr val="F4EFDE"/>
          </a:solidFill>
          <a:ln/>
        </p:spPr>
      </p:sp>
      <p:sp>
        <p:nvSpPr>
          <p:cNvPr id="50" name="Shape 48"/>
          <p:cNvSpPr/>
          <p:nvPr/>
        </p:nvSpPr>
        <p:spPr>
          <a:xfrm>
            <a:off x="548640" y="6053328"/>
            <a:ext cx="73152" cy="41148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" y="6053328"/>
            <a:ext cx="10865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 </a:t>
            </a:r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run_all.py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drives both suites end-to-end · transcripts written as JSON + colorized HTML to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transcripts/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Anand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5380 · Lab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911535" y="6583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64008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1 · MCP network-ops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drives live diagnostics via the Model Context Protocol over stdio.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468880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76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 4.5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01898" y="2011680"/>
            <a:ext cx="2468880" cy="128016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3338" y="2176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Client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93338" y="25786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mcp_client.py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loop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55157" y="2011680"/>
            <a:ext cx="2468880" cy="128016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6597" y="21762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46597" y="257860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mcp_network_server.py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FastMCP · stdio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08415" y="2011680"/>
            <a:ext cx="2834640" cy="1280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899855" y="21762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Simulated network state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99855" y="257860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devices · real telemetry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deliberate anomalies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63240" y="2651760"/>
            <a:ext cx="192938" cy="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16498" y="2651760"/>
            <a:ext cx="192938" cy="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69757" y="2651760"/>
            <a:ext cx="192938" cy="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48640" y="4023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network tools exposed to Claude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490864" cy="50292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89120"/>
            <a:ext cx="149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list_devices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49232" y="4389120"/>
            <a:ext cx="1490864" cy="50292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9232" y="4389120"/>
            <a:ext cx="149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get_interfaces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49824" y="4389120"/>
            <a:ext cx="1490864" cy="50292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824" y="4389120"/>
            <a:ext cx="149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get_bgp_neighbors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50416" y="4389120"/>
            <a:ext cx="1490864" cy="50292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50416" y="4389120"/>
            <a:ext cx="149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get_route_table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51008" y="4389120"/>
            <a:ext cx="1490864" cy="50292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51008" y="4389120"/>
            <a:ext cx="149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get_device_health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51599" y="4389120"/>
            <a:ext cx="1490864" cy="50292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51599" y="4389120"/>
            <a:ext cx="149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get_logs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152191" y="4389120"/>
            <a:ext cx="1490864" cy="50292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52191" y="4389120"/>
            <a:ext cx="149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ping_device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263644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257800"/>
            <a:ext cx="64008" cy="109728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5367528"/>
            <a:ext cx="2362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685800" y="5943600"/>
            <a:ext cx="23621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67964" y="5257800"/>
            <a:ext cx="263644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67964" y="5257800"/>
            <a:ext cx="64008" cy="109728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41" name="Text 39"/>
          <p:cNvSpPr/>
          <p:nvPr/>
        </p:nvSpPr>
        <p:spPr>
          <a:xfrm>
            <a:off x="3505124" y="5367528"/>
            <a:ext cx="2362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3505124" y="5943600"/>
            <a:ext cx="23621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devices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87288" y="5257800"/>
            <a:ext cx="263644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87288" y="5257800"/>
            <a:ext cx="64008" cy="109728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45" name="Text 43"/>
          <p:cNvSpPr/>
          <p:nvPr/>
        </p:nvSpPr>
        <p:spPr>
          <a:xfrm>
            <a:off x="6324448" y="5367528"/>
            <a:ext cx="2362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46" name="Text 44"/>
          <p:cNvSpPr/>
          <p:nvPr/>
        </p:nvSpPr>
        <p:spPr>
          <a:xfrm>
            <a:off x="6324448" y="5943600"/>
            <a:ext cx="23621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queries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006611" y="5257800"/>
            <a:ext cx="263644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06611" y="5257800"/>
            <a:ext cx="64008" cy="109728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49" name="Text 47"/>
          <p:cNvSpPr/>
          <p:nvPr/>
        </p:nvSpPr>
        <p:spPr>
          <a:xfrm>
            <a:off x="9143771" y="5367528"/>
            <a:ext cx="23621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stdio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9143771" y="5943600"/>
            <a:ext cx="23621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Anand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5380 · Lab 11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911535" y="6583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64008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1 · Agent in 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chains tool calls until it has the evidence to explain the failure.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530352"/>
          </a:xfrm>
          <a:prstGeom prst="rect">
            <a:avLst/>
          </a:prstGeom>
          <a:solidFill>
            <a:srgbClr val="F4EFD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53035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108658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 </a:t>
            </a:r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iBGP session between dist-sw-01 and edge-fw-01 is stuck in Idle. What’s wrong and how do I fix it?”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6583680" cy="3977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23160"/>
            <a:ext cx="73152" cy="397764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7802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▎ AGENTIC LOOP  ·  claude-sonnet-4-5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752344"/>
            <a:ext cx="6309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tool_use: list_devices({})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3 devices: core-rtr-01, dist-sw-01, edge-fw-01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tool_use: get_bgp_neighbors({device:'dist-sw-01'})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peer 10.255.0.2 → state=Idle, last_err=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'Authentication failure'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tool_use: get_bgp_neighbors({device:'edge-fw-01'})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peer 10.255.0.1 → state=Idle, password='MD5-SECRET-DIFFERENT'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tool_use: get_logs({device:'dist-sw-01',severity:'err'})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%TCP-6-BADAUTH: Invalid MD5 digest from 10.255.0.2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tool_use: ping_device({src:'dist-sw-01',dst:'edge-fw-01'})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reachable=true, loss=0% (underlay is fine)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Claude: evidence sufficient — return diagnosis.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60920" y="2423160"/>
            <a:ext cx="4282135" cy="397764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2423160"/>
            <a:ext cx="4282135" cy="3474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0" y="2423160"/>
            <a:ext cx="40078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DIAGNOSIS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43800" y="2880360"/>
            <a:ext cx="391637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authentication mismatch. dist-sw-01 uses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MD5-SECRET-ORIGINAL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edge-fw-01 uses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MD5-SECRET-DIFFERENT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Re-align the neighbor password on one side, then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ip bgp 65500 soft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force re-establishment.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%TCP-6-BADAUTH in dist-sw-01 logs + ping succeeds → it isn’t a reachability problem.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Anand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5380 · Lab 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11535" y="6583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64008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2 · Network RAG assistant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answer in our docs — no Cisco-from-memory, no hallucinations.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36003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2036003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Load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85312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source docs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(configs, design, runbook)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12075" y="2583180"/>
            <a:ext cx="173736" cy="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13243" y="1920240"/>
            <a:ext cx="2036003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3243" y="1920240"/>
            <a:ext cx="2036003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2813243" y="1920240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Chunk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04683" y="2286000"/>
            <a:ext cx="185312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RecursiveSplitter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chars / 150 overlap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76678" y="2583180"/>
            <a:ext cx="173736" cy="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77846" y="1920240"/>
            <a:ext cx="2036003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7846" y="1920240"/>
            <a:ext cx="2036003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077846" y="1920240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Embed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69286" y="2286000"/>
            <a:ext cx="185312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MiniLM (default)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TF-IDF fallback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1281" y="2583180"/>
            <a:ext cx="173736" cy="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42449" y="1920240"/>
            <a:ext cx="2036003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42449" y="1920240"/>
            <a:ext cx="2036003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42449" y="1920240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Store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33889" y="2286000"/>
            <a:ext cx="185312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collection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405884" y="2583180"/>
            <a:ext cx="173736" cy="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07052" y="1920240"/>
            <a:ext cx="2036003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7052" y="1920240"/>
            <a:ext cx="2036003" cy="29260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9607052" y="1920240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Retrieve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98492" y="2286000"/>
            <a:ext cx="185312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grounded prompt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611880"/>
            <a:ext cx="3931920" cy="118872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prompt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" y="405079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rule: answer only from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&lt;context&gt; passages.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a file.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07992" y="4206240"/>
            <a:ext cx="173736" cy="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709160" y="3611880"/>
            <a:ext cx="3291840" cy="1188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B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Sonnet 4.5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46320" y="40507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training knowledge.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if context is silent.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28432" y="4206240"/>
            <a:ext cx="173736" cy="0"/>
          </a:xfrm>
          <a:prstGeom prst="line">
            <a:avLst/>
          </a:prstGeom>
          <a:noFill/>
          <a:ln w="25400">
            <a:solidFill>
              <a:srgbClr val="A8924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229600" y="3611880"/>
            <a:ext cx="3413455" cy="118872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3703320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Cited answer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66760" y="4050792"/>
            <a:ext cx="3139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Operator-friendly prose with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[source: filename.txt] tags.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074920"/>
            <a:ext cx="11094415" cy="123444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18464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· 7 documents → 33 chunks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1520" y="557784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router1_running_config.txt   ·   router2_running_config.txt   ·   firewall1_running_config.txt   ·   switch1_running_config.txt   ·   switch2_running_config.txt   ·   network_design_doc.md   ·   runbook_bgp_idle_troubleshooting.md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Anand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5380 · Lab 11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11535" y="6583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64008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2 · Grounded answer + refusal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queries, two behaviors: cite the docs when you can, refuse when you can’t.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233172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10865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9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  </a:t>
            </a:r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IP address is assigned to GigabitEthernet0/0/1 on Router1?”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5394960" cy="17373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194560"/>
            <a:ext cx="73152" cy="173736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2494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▎ RETRIEVED (top-4, distance↓)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523744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1  router1_running_config.txt  d=0.214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interface GigabitEthernet0/0/1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 UPLINK-TO-SWITCH1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ip address 10.10.10.1 255.255.255.0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2  network_design_doc.md         d=0.412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"Router1 Gi0/0/1 is the SVI gateway for …"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46520" y="2194560"/>
            <a:ext cx="5196535" cy="173736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304288"/>
            <a:ext cx="48307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300" kern="0" dirty="0">
                <a:solidFill>
                  <a:srgbClr val="A89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GigabitEthernet0/0/1 on Router1 is configured with 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10.10.10.1/24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(description UPLINK-TO-SWITCH1).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[source: router1_running_config.txt]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94415" cy="21031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160520"/>
            <a:ext cx="73152" cy="210312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51960"/>
            <a:ext cx="10865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B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  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brand and part number of optical SFP is installed in Router1 Gi0/0/3?”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4663440"/>
            <a:ext cx="10865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E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knowledge base covers SFP hardware inventory.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5074920"/>
            <a:ext cx="10865815" cy="1005840"/>
          </a:xfrm>
          <a:prstGeom prst="rect">
            <a:avLst/>
          </a:prstGeom>
          <a:solidFill>
            <a:srgbClr val="1E1E1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184648"/>
            <a:ext cx="105000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spc="300" kern="0" dirty="0">
                <a:solidFill>
                  <a:srgbClr val="CFB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don’t have enough information in the provided documents to answer that.”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Anand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5380 · Lab 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11535" y="6583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64008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call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press enter — where API calls go, and how the two objectives differ at runtime.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10048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410048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 1  ·  MCP AGENTIC LOOP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956816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multi-turn — Claude decides what to call next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487168"/>
            <a:ext cx="256032" cy="256032"/>
          </a:xfrm>
          <a:prstGeom prst="ellipse">
            <a:avLst/>
          </a:prstGeom>
          <a:solidFill>
            <a:srgbClr val="CFB87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97280" y="2350008"/>
            <a:ext cx="486140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client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2588666"/>
            <a:ext cx="4861408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console.input("you&gt; ")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question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035808"/>
            <a:ext cx="256032" cy="256032"/>
          </a:xfrm>
          <a:prstGeom prst="ellipse">
            <a:avLst/>
          </a:prstGeom>
          <a:solidFill>
            <a:srgbClr val="CFB87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" y="2898648"/>
            <a:ext cx="486140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Anthropic API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0" y="3137306"/>
            <a:ext cx="4861408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messages.create(system, tools, messages)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schemas + conversation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584448"/>
            <a:ext cx="256032" cy="256032"/>
          </a:xfrm>
          <a:prstGeom prst="ellipse">
            <a:avLst/>
          </a:prstGeom>
          <a:solidFill>
            <a:srgbClr val="CFB87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0" y="3447288"/>
            <a:ext cx="486140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→ client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97280" y="3685946"/>
            <a:ext cx="4861408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stop_reason = 'tool_use'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 block with args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133088"/>
            <a:ext cx="256032" cy="256032"/>
          </a:xfrm>
          <a:prstGeom prst="ellipse">
            <a:avLst/>
          </a:prstGeom>
          <a:solidFill>
            <a:srgbClr val="CFB87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33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" y="3995928"/>
            <a:ext cx="486140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MCP server (stdio)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97280" y="4234586"/>
            <a:ext cx="4861408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session.call_tool(name, args)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runs @mcp.tool()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4681728"/>
            <a:ext cx="256032" cy="256032"/>
          </a:xfrm>
          <a:prstGeom prst="ellipse">
            <a:avLst/>
          </a:prstGeom>
          <a:solidFill>
            <a:srgbClr val="CFB87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681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97280" y="4544568"/>
            <a:ext cx="486140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client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97280" y="4783226"/>
            <a:ext cx="4861408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tool_result (JSON)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as user-role content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5230368"/>
            <a:ext cx="256032" cy="256032"/>
          </a:xfrm>
          <a:prstGeom prst="ellipse">
            <a:avLst/>
          </a:prstGeom>
          <a:solidFill>
            <a:srgbClr val="CFB87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230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97280" y="5093208"/>
            <a:ext cx="486140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Client → Anthropic API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97280" y="5331866"/>
            <a:ext cx="4861408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messages.create(...)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call again, or answer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5779008"/>
            <a:ext cx="256032" cy="256032"/>
          </a:xfrm>
          <a:prstGeom prst="ellipse">
            <a:avLst/>
          </a:prstGeom>
          <a:solidFill>
            <a:srgbClr val="CFB87C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779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97280" y="5641848"/>
            <a:ext cx="486140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→ client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97280" y="5880506"/>
            <a:ext cx="4861408" cy="27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stop_reason = 'end_turn'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printed to user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35728" y="3447288"/>
            <a:ext cx="36576" cy="210312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8" name="Text 36"/>
          <p:cNvSpPr/>
          <p:nvPr/>
        </p:nvSpPr>
        <p:spPr>
          <a:xfrm>
            <a:off x="4587088" y="42245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spc="200" kern="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33008" y="1691640"/>
            <a:ext cx="5410048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33008" y="1691640"/>
            <a:ext cx="5410048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6415888" y="1737360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 2  ·  RAG PIPELINE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15888" y="1956816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 once · retrieve + answer per query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15888" y="2350008"/>
            <a:ext cx="5044288" cy="237744"/>
          </a:xfrm>
          <a:prstGeom prst="rect">
            <a:avLst/>
          </a:prstGeom>
          <a:solidFill>
            <a:srgbClr val="F4EFDE"/>
          </a:solidFill>
          <a:ln/>
        </p:spPr>
      </p:sp>
      <p:sp>
        <p:nvSpPr>
          <p:cNvPr id="44" name="Text 42"/>
          <p:cNvSpPr/>
          <p:nvPr/>
        </p:nvSpPr>
        <p:spPr>
          <a:xfrm>
            <a:off x="6507328" y="2350008"/>
            <a:ext cx="486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8924C"/>
                </a:solidFill>
              </a:rPr>
              <a:t>A · INGEST  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·  once, before queries  ·  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ingest.py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15888" y="2706624"/>
            <a:ext cx="256032" cy="256032"/>
          </a:xfrm>
          <a:prstGeom prst="ellipse">
            <a:avLst/>
          </a:prstGeom>
          <a:solidFill>
            <a:srgbClr val="F4EFDE"/>
          </a:solidFill>
          <a:ln/>
        </p:spPr>
      </p:sp>
      <p:sp>
        <p:nvSpPr>
          <p:cNvPr id="46" name="Text 44"/>
          <p:cNvSpPr/>
          <p:nvPr/>
        </p:nvSpPr>
        <p:spPr>
          <a:xfrm>
            <a:off x="6415888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781648" y="2642616"/>
            <a:ext cx="4861408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781648" y="2815438"/>
            <a:ext cx="486140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TextLoader(*.txt, *.md)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files from knowledge_base/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15888" y="3108960"/>
            <a:ext cx="256032" cy="256032"/>
          </a:xfrm>
          <a:prstGeom prst="ellipse">
            <a:avLst/>
          </a:prstGeom>
          <a:solidFill>
            <a:srgbClr val="F4EFDE"/>
          </a:solidFill>
          <a:ln/>
        </p:spPr>
      </p:sp>
      <p:sp>
        <p:nvSpPr>
          <p:cNvPr id="50" name="Text 48"/>
          <p:cNvSpPr/>
          <p:nvPr/>
        </p:nvSpPr>
        <p:spPr>
          <a:xfrm>
            <a:off x="6415888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81648" y="3044952"/>
            <a:ext cx="4861408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781648" y="3217774"/>
            <a:ext cx="486140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RecursiveCharacterTextSplitter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/ 150 → 33 chunks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15888" y="3511296"/>
            <a:ext cx="256032" cy="256032"/>
          </a:xfrm>
          <a:prstGeom prst="ellipse">
            <a:avLst/>
          </a:prstGeom>
          <a:solidFill>
            <a:srgbClr val="F4EFDE"/>
          </a:solidFill>
          <a:ln/>
        </p:spPr>
      </p:sp>
      <p:sp>
        <p:nvSpPr>
          <p:cNvPr id="54" name="Text 52"/>
          <p:cNvSpPr/>
          <p:nvPr/>
        </p:nvSpPr>
        <p:spPr>
          <a:xfrm>
            <a:off x="6415888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781648" y="3447288"/>
            <a:ext cx="4861408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781648" y="3620110"/>
            <a:ext cx="486140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embeddings.embed_documents(chunks)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33 × 384-d vectors (MiniLM)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15888" y="3913632"/>
            <a:ext cx="256032" cy="256032"/>
          </a:xfrm>
          <a:prstGeom prst="ellipse">
            <a:avLst/>
          </a:prstGeom>
          <a:solidFill>
            <a:srgbClr val="F4EFDE"/>
          </a:solidFill>
          <a:ln/>
        </p:spPr>
      </p:sp>
      <p:sp>
        <p:nvSpPr>
          <p:cNvPr id="58" name="Text 56"/>
          <p:cNvSpPr/>
          <p:nvPr/>
        </p:nvSpPr>
        <p:spPr>
          <a:xfrm>
            <a:off x="6415888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781648" y="3849624"/>
            <a:ext cx="4861408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781648" y="4022446"/>
            <a:ext cx="486140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collection.add(ids, docs, metas, embeddings)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persisted to disk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461608" y="4297680"/>
            <a:ext cx="4952848" cy="0"/>
          </a:xfrm>
          <a:prstGeom prst="line">
            <a:avLst/>
          </a:prstGeom>
          <a:noFill/>
          <a:ln w="12700">
            <a:solidFill>
              <a:srgbClr val="E2DAC2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6415888" y="4370832"/>
            <a:ext cx="5044288" cy="237744"/>
          </a:xfrm>
          <a:prstGeom prst="rect">
            <a:avLst/>
          </a:prstGeom>
          <a:solidFill>
            <a:srgbClr val="F4EFDE"/>
          </a:solidFill>
          <a:ln/>
        </p:spPr>
      </p:sp>
      <p:sp>
        <p:nvSpPr>
          <p:cNvPr id="63" name="Text 61"/>
          <p:cNvSpPr/>
          <p:nvPr/>
        </p:nvSpPr>
        <p:spPr>
          <a:xfrm>
            <a:off x="6507328" y="4370832"/>
            <a:ext cx="486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8924C"/>
                </a:solidFill>
              </a:rPr>
              <a:t>B · QUERY TIME  </a:t>
            </a:r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·  one Anthropic call per question  ·  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rag_assistant.py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415888" y="4727448"/>
            <a:ext cx="256032" cy="256032"/>
          </a:xfrm>
          <a:prstGeom prst="ellipse">
            <a:avLst/>
          </a:prstGeom>
          <a:solidFill>
            <a:srgbClr val="CFB87C"/>
          </a:solidFill>
          <a:ln/>
        </p:spPr>
      </p:sp>
      <p:sp>
        <p:nvSpPr>
          <p:cNvPr id="65" name="Text 63"/>
          <p:cNvSpPr/>
          <p:nvPr/>
        </p:nvSpPr>
        <p:spPr>
          <a:xfrm>
            <a:off x="6415888" y="4727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781648" y="4663440"/>
            <a:ext cx="4861408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781648" y="4836262"/>
            <a:ext cx="486140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embeddings.embed_query(q)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backend used at ingest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15888" y="5129784"/>
            <a:ext cx="256032" cy="256032"/>
          </a:xfrm>
          <a:prstGeom prst="ellipse">
            <a:avLst/>
          </a:prstGeom>
          <a:solidFill>
            <a:srgbClr val="CFB87C"/>
          </a:solidFill>
          <a:ln/>
        </p:spPr>
      </p:sp>
      <p:sp>
        <p:nvSpPr>
          <p:cNvPr id="69" name="Text 67"/>
          <p:cNvSpPr/>
          <p:nvPr/>
        </p:nvSpPr>
        <p:spPr>
          <a:xfrm>
            <a:off x="6415888" y="5129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781648" y="5065776"/>
            <a:ext cx="4861408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6781648" y="5238598"/>
            <a:ext cx="486140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collection.query(embeddings, n_results=4)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top-4 chunks + metadata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415888" y="5532120"/>
            <a:ext cx="256032" cy="256032"/>
          </a:xfrm>
          <a:prstGeom prst="ellipse">
            <a:avLst/>
          </a:prstGeom>
          <a:solidFill>
            <a:srgbClr val="CFB87C"/>
          </a:solidFill>
          <a:ln/>
        </p:spPr>
      </p:sp>
      <p:sp>
        <p:nvSpPr>
          <p:cNvPr id="73" name="Text 71"/>
          <p:cNvSpPr/>
          <p:nvPr/>
        </p:nvSpPr>
        <p:spPr>
          <a:xfrm>
            <a:off x="6415888" y="5532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6781648" y="5468112"/>
            <a:ext cx="4861408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 + call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6781648" y="5640934"/>
            <a:ext cx="486140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messages.create(system, user=&lt;context&gt;)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single-turn, no tools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415888" y="5934456"/>
            <a:ext cx="256032" cy="256032"/>
          </a:xfrm>
          <a:prstGeom prst="ellipse">
            <a:avLst/>
          </a:prstGeom>
          <a:solidFill>
            <a:srgbClr val="CFB87C"/>
          </a:solidFill>
          <a:ln/>
        </p:spPr>
      </p:sp>
      <p:sp>
        <p:nvSpPr>
          <p:cNvPr id="77" name="Text 75"/>
          <p:cNvSpPr/>
          <p:nvPr/>
        </p:nvSpPr>
        <p:spPr>
          <a:xfrm>
            <a:off x="6415888" y="5934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6781648" y="5870448"/>
            <a:ext cx="4861408" cy="184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6781648" y="6043270"/>
            <a:ext cx="4861408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“…10.10.10.1/24 [source: router1…]”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refusal if context is silent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81" name="Text 79"/>
          <p:cNvSpPr/>
          <p:nvPr/>
        </p:nvSpPr>
        <p:spPr>
          <a:xfrm>
            <a:off x="54864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Anand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5380 · Lab 11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0911535" y="6583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4" name="Shape 2"/>
          <p:cNvSpPr/>
          <p:nvPr/>
        </p:nvSpPr>
        <p:spPr>
          <a:xfrm>
            <a:off x="4541368" y="822960"/>
            <a:ext cx="3108960" cy="36576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5" name="Text 3"/>
          <p:cNvSpPr/>
          <p:nvPr/>
        </p:nvSpPr>
        <p:spPr>
          <a:xfrm>
            <a:off x="4541368" y="822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▎  SWITCH TO TERMINAL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 DEMO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FB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it anything — the network is listening.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3657600"/>
            <a:ext cx="9265615" cy="2468880"/>
          </a:xfrm>
          <a:prstGeom prst="rect">
            <a:avLst/>
          </a:prstGeom>
          <a:solidFill>
            <a:srgbClr val="0B0B0B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3657600"/>
            <a:ext cx="9265615" cy="3657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3767328"/>
            <a:ext cx="146304" cy="146304"/>
          </a:xfrm>
          <a:prstGeom prst="ellipse">
            <a:avLst/>
          </a:prstGeom>
          <a:solidFill>
            <a:srgbClr val="E06C6C"/>
          </a:solidFill>
          <a:ln/>
        </p:spPr>
      </p:sp>
      <p:sp>
        <p:nvSpPr>
          <p:cNvPr id="11" name="Shape 9"/>
          <p:cNvSpPr/>
          <p:nvPr/>
        </p:nvSpPr>
        <p:spPr>
          <a:xfrm>
            <a:off x="1837944" y="3767328"/>
            <a:ext cx="146304" cy="146304"/>
          </a:xfrm>
          <a:prstGeom prst="ellipse">
            <a:avLst/>
          </a:prstGeom>
          <a:solidFill>
            <a:srgbClr val="E0C26C"/>
          </a:solidFill>
          <a:ln/>
        </p:spPr>
      </p:sp>
      <p:sp>
        <p:nvSpPr>
          <p:cNvPr id="12" name="Shape 10"/>
          <p:cNvSpPr/>
          <p:nvPr/>
        </p:nvSpPr>
        <p:spPr>
          <a:xfrm>
            <a:off x="2075688" y="3767328"/>
            <a:ext cx="146304" cy="146304"/>
          </a:xfrm>
          <a:prstGeom prst="ellipse">
            <a:avLst/>
          </a:prstGeom>
          <a:solidFill>
            <a:srgbClr val="6CE08A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657600"/>
            <a:ext cx="9265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zsh — nexthop@demo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37360" y="4160520"/>
            <a:ext cx="8716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objective1_mcp/mcp_client.py --model claude-sonnet-4-5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you&gt; </a:t>
            </a:r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“Our iBGP session is stuck in Idle. Walk me through the root cause.”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objective2_rag/rag_assistant.py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you&gt; </a:t>
            </a:r>
            <a:pPr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“What OSPF areas are configured in the network?”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6263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deck · return here after demo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64008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tools, two jobs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MCP acts on live state. RAG explains static knowledge. Don’t mix them up.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3278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FB8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FB8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ops (MCP)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FB8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assistant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freshness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— each call hits real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Ingestion-time snapshot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 effects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can change the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by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“What’s broken right now, and why?”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“How is this designed / documented?”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tool / wrong args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miss → refuse to answer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boundary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by the tools you expose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by what’s in the corpus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D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lab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live diagnostic scenarios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Q&amp;A over 7 KB 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A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06440"/>
            <a:ext cx="11094415" cy="59436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80644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 on-call assistant probably needs both — MCP for the pager, RAG for the runbook.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Anand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5380 · Lab 11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11535" y="6583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31520" cy="64008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learned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that surprised me — and one I’d build next.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10048" cy="208026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91440" cy="208026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= agent depth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99856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will only chain as many tool calls as the prompt invites. My first Q5 answer looked thin until I asked it to also check BGP, interfaces, and logs before concluding. The reasoning was there — my instructions weren’t.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783080"/>
            <a:ext cx="5410048" cy="208026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3008" y="1783080"/>
            <a:ext cx="91440" cy="208026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11" name="Text 9"/>
          <p:cNvSpPr/>
          <p:nvPr/>
        </p:nvSpPr>
        <p:spPr>
          <a:xfrm>
            <a:off x="6507328" y="192024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beats generation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07328" y="2377440"/>
            <a:ext cx="499856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Q3 answer, TF-IDF missed the exact ACL chunk that the semantic backend found instantly. Same LLM, totally different answer. In RAG, retrieval quality is the ceiling on the whole system.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37660"/>
            <a:ext cx="5410048" cy="208026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37660"/>
            <a:ext cx="91440" cy="208026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7482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Refusal is a feature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732020"/>
            <a:ext cx="499856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model say “I don’t have that in the docs” is harder and more valuable than making it answer. The system prompt that mandates citations + an exact refusal sentence is what keeps this from being a confident-sounding liar.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3008" y="4137660"/>
            <a:ext cx="5410048" cy="2080260"/>
          </a:xfrm>
          <a:prstGeom prst="rect">
            <a:avLst/>
          </a:prstGeom>
          <a:solidFill>
            <a:srgbClr val="F4EFDE"/>
          </a:solidFill>
          <a:ln w="12700">
            <a:solidFill>
              <a:srgbClr val="A892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3008" y="4137660"/>
            <a:ext cx="91440" cy="2080260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19" name="Text 17"/>
          <p:cNvSpPr/>
          <p:nvPr/>
        </p:nvSpPr>
        <p:spPr>
          <a:xfrm>
            <a:off x="6507328" y="4274820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wire them together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07328" y="4732020"/>
            <a:ext cx="499856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assistant that consults the RAG corpus first, and only reaches for live MCP tools when the docs can’t settle the question — that’s the next iteration, and it’s where the real operational win is.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6583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Anand</a:t>
            </a:r>
            <a:pPr indent="0" marL="0">
              <a:buNone/>
            </a:pPr>
            <a:r>
              <a:rPr lang="en-US" sz="900" dirty="0">
                <a:solidFill>
                  <a:srgbClr val="E2D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5380 · Lab 11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11535" y="6583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2024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FB8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1097280" cy="36576"/>
          </a:xfrm>
          <a:prstGeom prst="rect">
            <a:avLst/>
          </a:prstGeom>
          <a:solidFill>
            <a:srgbClr val="CFB87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6052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Anand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FB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atul@nexthop.ai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EBE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5380 · Network Virtualization &amp; Orchestration · Spring 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80644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submission · Lab_11_Submission.md   ·   transcripts/   ·   objective1_mcp/   ·   objective2_rag/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CU Boulder · CSCI 5380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11 — AI/ML for Network Engineering</dc:title>
  <dc:subject>PptxGenJS Presentation</dc:subject>
  <dc:creator>Atul Anand</dc:creator>
  <cp:lastModifiedBy>Atul Anand</cp:lastModifiedBy>
  <cp:revision>1</cp:revision>
  <dcterms:created xsi:type="dcterms:W3CDTF">2026-04-21T15:58:03Z</dcterms:created>
  <dcterms:modified xsi:type="dcterms:W3CDTF">2026-04-21T15:58:03Z</dcterms:modified>
</cp:coreProperties>
</file>